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868680"/>
            <a:ext cx="932688" cy="9326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033271"/>
            <a:ext cx="603504" cy="603504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1993392" y="9784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Onflo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813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220">
                <a:solidFill>
                  <a:srgbClr val="7CB7EC"/>
                </a:solidFill>
                <a:latin typeface="Arial"/>
              </a:rPr>
              <a:t>FILTER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spc="160">
                <a:solidFill>
                  <a:srgbClr val="7CB7EC"/>
                </a:solidFill>
                <a:latin typeface="Arial"/>
              </a:rPr>
              <a:t>ENGINEERING HANDOFF  ·  DASHBOARD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FFFFFF"/>
                </a:solidFill>
                <a:latin typeface="Arial"/>
              </a:rPr>
              <a:t>Service Overview &amp; Comparison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FFFFFF"/>
                </a:solidFill>
                <a:latin typeface="Arial"/>
              </a:rPr>
              <a:t>Dashboards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28032"/>
            <a:ext cx="1554480" cy="4572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292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50" b="0">
                <a:solidFill>
                  <a:srgbClr val="C6D2E0"/>
                </a:solidFill>
                <a:latin typeface="Arial"/>
              </a:rPr>
              <a:t>Mostly a UI update to dashboards already in production — the new filter modal is the core of this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6163056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C9CB2"/>
                </a:solidFill>
                <a:latin typeface="Arial"/>
              </a:rPr>
              <a:t>Onflo Filter Experience prototype   ·   May 2026   ·   Integration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7040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002536"/>
            <a:ext cx="457200" cy="457200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84248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332"/>
                </a:solidFill>
                <a:latin typeface="Arial"/>
              </a:rPr>
              <a:t>The two dashboards   </a:t>
            </a:r>
            <a:r>
              <a:rPr sz="1150" b="0">
                <a:solidFill>
                  <a:srgbClr val="5B6776"/>
                </a:solidFill>
                <a:latin typeface="Arial"/>
              </a:rPr>
              <a:t>Service Overview (canonical) and the three Comparison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06624"/>
            <a:ext cx="7040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2834640"/>
            <a:ext cx="457200" cy="457200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81635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332"/>
                </a:solidFill>
                <a:latin typeface="Arial"/>
              </a:rPr>
              <a:t>Page anatomy &amp; toolbar   </a:t>
            </a:r>
            <a:r>
              <a:rPr sz="1150" b="0">
                <a:solidFill>
                  <a:srgbClr val="5B6776"/>
                </a:solidFill>
                <a:latin typeface="Arial"/>
              </a:rPr>
              <a:t>The shared dashboard shell every page is built from.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38728"/>
            <a:ext cx="7040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3666744"/>
            <a:ext cx="457200" cy="457200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648456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332"/>
                </a:solidFill>
                <a:latin typeface="Arial"/>
              </a:rPr>
              <a:t>Filters   </a:t>
            </a:r>
            <a:r>
              <a:rPr sz="1150" b="0">
                <a:solidFill>
                  <a:srgbClr val="5B6776"/>
                </a:solidFill>
                <a:latin typeface="Arial"/>
              </a:rPr>
              <a:t>The vanilla-JS filter engine and the Angular filter-shell wrapper.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7040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498847"/>
            <a:ext cx="457200" cy="457200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8055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332"/>
                </a:solidFill>
                <a:latin typeface="Arial"/>
              </a:rPr>
              <a:t>Saved views   </a:t>
            </a:r>
            <a:r>
              <a:rPr sz="1150" b="0">
                <a:solidFill>
                  <a:srgbClr val="5B6776"/>
                </a:solidFill>
                <a:latin typeface="Arial"/>
              </a:rPr>
              <a:t>Saving, routing to, and restoring a named filter 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02936"/>
            <a:ext cx="70408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5330951"/>
            <a:ext cx="457200" cy="457200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53126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332"/>
                </a:solidFill>
                <a:latin typeface="Arial"/>
              </a:rPr>
              <a:t>What's left to wire   </a:t>
            </a:r>
            <a:r>
              <a:rPr sz="1150" b="0">
                <a:solidFill>
                  <a:srgbClr val="5B6776"/>
                </a:solidFill>
                <a:latin typeface="Arial"/>
              </a:rPr>
              <a:t>The backend endpoints this experience depends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874519"/>
            <a:ext cx="3593592" cy="3986784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1396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60">
                <a:solidFill>
                  <a:srgbClr val="7CB7EC"/>
                </a:solidFill>
                <a:latin typeface="Arial"/>
              </a:rPr>
              <a:t>READ THIS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87168"/>
            <a:ext cx="30632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The dashboards already work — this is a UI update.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6D2E0"/>
                </a:solidFill>
                <a:latin typeface="Arial"/>
              </a:rPr>
              <a:t>The filter modal is the one genuinely new system, and the core of this work.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C6D2E0"/>
                </a:solidFill>
                <a:latin typeface="Arial"/>
              </a:rPr>
              <a:t>This deck summarizes the specs and handoff so the team can review it together — it doesn't replace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What you own — and what you 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120">
                <a:solidFill>
                  <a:srgbClr val="2E7D46"/>
                </a:solidFill>
                <a:latin typeface="Arial"/>
              </a:rPr>
              <a:t>✓  YOU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The filter modal  </a:t>
            </a:r>
            <a:r>
              <a:rPr sz="1280">
                <a:solidFill>
                  <a:srgbClr val="5B6776"/>
                </a:solidFill>
                <a:latin typeface="Arial"/>
              </a:rPr>
              <a:t>— the one genuinely NEW system, and the core of this work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>
                <a:solidFill>
                  <a:srgbClr val="1A2332"/>
                </a:solidFill>
                <a:latin typeface="Arial"/>
              </a:rPr>
              <a:t>Updated page header (title, stats, last-updated, learn-more)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>
                <a:solidFill>
                  <a:srgbClr val="1A2332"/>
                </a:solidFill>
                <a:latin typeface="Arial"/>
              </a:rPr>
              <a:t>Updated dashboard toolbar (date, filter, Save/Edit View, download, share)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>
                <a:solidFill>
                  <a:srgbClr val="1A2332"/>
                </a:solidFill>
                <a:latin typeface="Arial"/>
              </a:rPr>
              <a:t>Applied-filters bar (driven by the filter modal)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>
                <a:solidFill>
                  <a:srgbClr val="1A2332"/>
                </a:solidFill>
                <a:latin typeface="Arial"/>
              </a:rPr>
              <a:t>Saved-view save / route / load / edit / delete flow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2E7D46"/>
                </a:solidFill>
                <a:latin typeface="Arial"/>
              </a:rPr>
              <a:t>▪  </a:t>
            </a:r>
            <a:r>
              <a:rPr sz="1280">
                <a:solidFill>
                  <a:srgbClr val="1A2332"/>
                </a:solidFill>
                <a:latin typeface="Arial"/>
              </a:rPr>
              <a:t>Three shared modals: Save View, Share Dashboard, Notify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349240" cy="566928"/>
          </a:xfrm>
          <a:prstGeom prst="roundRect">
            <a:avLst>
              <a:gd name="adj" fmla="val 5000"/>
            </a:avLst>
          </a:prstGeom>
          <a:solidFill>
            <a:srgbClr val="F6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947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120">
                <a:solidFill>
                  <a:srgbClr val="B43A3A"/>
                </a:solidFill>
                <a:latin typeface="Arial"/>
              </a:rPr>
              <a:t>✕  NOT 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578608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B43A3A"/>
                </a:solidFill>
                <a:latin typeface="Arial"/>
              </a:rPr>
              <a:t>—  </a:t>
            </a:r>
            <a:r>
              <a:rPr sz="1280">
                <a:solidFill>
                  <a:srgbClr val="1A2332"/>
                </a:solidFill>
                <a:latin typeface="Arial"/>
              </a:rPr>
              <a:t>The chart data &amp; chart logic — already in production, unchanged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B43A3A"/>
                </a:solidFill>
                <a:latin typeface="Arial"/>
              </a:rPr>
              <a:t>—  </a:t>
            </a:r>
            <a:r>
              <a:rPr sz="1280">
                <a:solidFill>
                  <a:srgbClr val="1A2332"/>
                </a:solidFill>
                <a:latin typeface="Arial"/>
              </a:rPr>
              <a:t>The app shell (top nav, sidebar, agent status)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B43A3A"/>
                </a:solidFill>
                <a:latin typeface="Arial"/>
              </a:rPr>
              <a:t>—  </a:t>
            </a:r>
            <a:r>
              <a:rPr sz="1280">
                <a:solidFill>
                  <a:srgbClr val="1A2332"/>
                </a:solidFill>
                <a:latin typeface="Arial"/>
              </a:rPr>
              <a:t>Tickets, Assets, Settings features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B43A3A"/>
                </a:solidFill>
                <a:latin typeface="Arial"/>
              </a:rPr>
              <a:t>—  </a:t>
            </a:r>
            <a:r>
              <a:rPr sz="1280">
                <a:solidFill>
                  <a:srgbClr val="1A2332"/>
                </a:solidFill>
                <a:latin typeface="Arial"/>
              </a:rPr>
              <a:t>Call Center, Chatbot, Fees (other teams)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>
                <a:solidFill>
                  <a:srgbClr val="B43A3A"/>
                </a:solidFill>
                <a:latin typeface="Arial"/>
              </a:rPr>
              <a:t>—  </a:t>
            </a:r>
            <a:r>
              <a:rPr sz="1280">
                <a:solidFill>
                  <a:srgbClr val="1A2332"/>
                </a:solidFill>
                <a:latin typeface="Arial"/>
              </a:rPr>
              <a:t>Migrating to the DS &lt;ds-filter&gt; component — see slide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776"/>
                </a:solidFill>
                <a:latin typeface="Arial"/>
              </a:rPr>
              <a:t>A UI update over analytics already in production — the filter modal is the one new build. Cross-boundary bug? File it, don't fix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6245351" y="2755487"/>
            <a:ext cx="5349240" cy="2206561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799" y="2755487"/>
            <a:ext cx="5349240" cy="2206561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THE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Two dashboards, one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776"/>
                </a:solidFill>
                <a:latin typeface="Arial"/>
              </a:rPr>
              <a:t>Service Overview is the canonical reference. The three Comparison pages follow the same shell with page-specific extras.</a:t>
            </a:r>
          </a:p>
        </p:txBody>
      </p:sp>
      <p:pic>
        <p:nvPicPr>
          <p:cNvPr id="9" name="Picture 8" descr="01-service-overview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691479"/>
            <a:ext cx="5349240" cy="2206561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pic>
        <p:nvPicPr>
          <p:cNvPr id="11" name="Picture 10" descr="08-comparison-user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1" y="2691479"/>
            <a:ext cx="5349240" cy="2206561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640080" y="55321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Service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553212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Comparison · Users / Categories /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776"/>
                </a:solidFill>
                <a:latin typeface="Arial"/>
              </a:rPr>
              <a:t>The grey “Dashboard placeholder” is where production charts already render — outside this team's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5074920" y="2687193"/>
            <a:ext cx="6492240" cy="2434589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PAGE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Every dashboard is two stacked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applied-bar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23185"/>
            <a:ext cx="6492240" cy="2434589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40080" y="187451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ds-page-content__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dashboard-header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160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1C6EBE"/>
                </a:solidFill>
                <a:latin typeface="Arial"/>
              </a:rPr>
              <a:t>▪  </a:t>
            </a:r>
            <a:r>
              <a:rPr sz="1250" b="1">
                <a:solidFill>
                  <a:srgbClr val="1A2332"/>
                </a:solidFill>
                <a:latin typeface="Arial"/>
              </a:rPr>
              <a:t>Heading row  </a:t>
            </a:r>
            <a:r>
              <a:rPr sz="1250">
                <a:solidFill>
                  <a:srgbClr val="5B6776"/>
                </a:solidFill>
                <a:latin typeface="Arial"/>
              </a:rPr>
              <a:t>title, stats bar, last-updated, learn-more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1C6EBE"/>
                </a:solidFill>
                <a:latin typeface="Arial"/>
              </a:rPr>
              <a:t>▪  </a:t>
            </a:r>
            <a:r>
              <a:rPr sz="1250" b="1">
                <a:solidFill>
                  <a:srgbClr val="1A2332"/>
                </a:solidFill>
                <a:latin typeface="Arial"/>
              </a:rPr>
              <a:t>Toolbar row  </a:t>
            </a:r>
            <a:r>
              <a:rPr sz="1250">
                <a:solidFill>
                  <a:srgbClr val="5B6776"/>
                </a:solidFill>
                <a:latin typeface="Arial"/>
              </a:rPr>
              <a:t>date select + filter / Save View / download / share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1C6EBE"/>
                </a:solidFill>
                <a:latin typeface="Arial"/>
              </a:rPr>
              <a:t>▪  </a:t>
            </a:r>
            <a:r>
              <a:rPr sz="1250" b="1">
                <a:solidFill>
                  <a:srgbClr val="1A2332"/>
                </a:solidFill>
                <a:latin typeface="Arial"/>
              </a:rPr>
              <a:t>Applied-filters bar  </a:t>
            </a:r>
            <a:r>
              <a:rPr sz="1250">
                <a:solidFill>
                  <a:srgbClr val="5B6776"/>
                </a:solidFill>
                <a:latin typeface="Arial"/>
              </a:rPr>
              <a:t>appears only when filters are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ds-page-content__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main--dashboard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1C6EBE"/>
                </a:solidFill>
                <a:latin typeface="Arial"/>
              </a:rPr>
              <a:t>▪  </a:t>
            </a:r>
            <a:r>
              <a:rPr sz="1250" b="1">
                <a:solidFill>
                  <a:srgbClr val="1A2332"/>
                </a:solidFill>
                <a:latin typeface="Arial"/>
              </a:rPr>
              <a:t>Scrolling canvas  </a:t>
            </a:r>
            <a:r>
              <a:rPr sz="1250">
                <a:solidFill>
                  <a:srgbClr val="5B6776"/>
                </a:solidFill>
                <a:latin typeface="Arial"/>
              </a:rPr>
              <a:t>the only zone that scrolls; header stays pinned</a:t>
            </a:r>
          </a:p>
        </p:txBody>
      </p:sp>
      <p:sp>
        <p:nvSpPr>
          <p:cNvPr id="13" name="Oval 12"/>
          <p:cNvSpPr/>
          <p:nvPr/>
        </p:nvSpPr>
        <p:spPr>
          <a:xfrm>
            <a:off x="5230368" y="2870073"/>
            <a:ext cx="420624" cy="420624"/>
          </a:xfrm>
          <a:prstGeom prst="ellipse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230368" y="4344543"/>
            <a:ext cx="420624" cy="42062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685800" y="2124955"/>
            <a:ext cx="10908792" cy="404385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THE TOOLBAR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One toolbar drives the whole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tool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60947"/>
            <a:ext cx="10908792" cy="404385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9" name="Rounded Rectangle 8"/>
          <p:cNvSpPr/>
          <p:nvPr/>
        </p:nvSpPr>
        <p:spPr>
          <a:xfrm>
            <a:off x="640080" y="320040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2084831" cy="82296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456432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332"/>
                </a:solidFill>
                <a:latin typeface="Arial"/>
              </a:rPr>
              <a:t>Date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041648"/>
            <a:ext cx="179222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>
                <a:solidFill>
                  <a:srgbClr val="5B6776"/>
                </a:solidFill>
                <a:latin typeface="Arial"/>
              </a:rPr>
              <a:t>Left-aligned, always first. A filter-modal date overrides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3491" y="320040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3491" y="3200400"/>
            <a:ext cx="2084831" cy="82296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796" y="3456432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332"/>
                </a:solidFill>
                <a:latin typeface="Arial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796" y="4041648"/>
            <a:ext cx="179222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>
                <a:solidFill>
                  <a:srgbClr val="5B6776"/>
                </a:solidFill>
                <a:latin typeface="Arial"/>
              </a:rPr>
              <a:t>Opens the modal. Shows a badge with the active filter 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6904" y="320040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3200400"/>
            <a:ext cx="2084831" cy="82296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3456432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332"/>
                </a:solidFill>
                <a:latin typeface="Arial"/>
              </a:rPr>
              <a:t>Save / Edit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4041648"/>
            <a:ext cx="179222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>
                <a:solidFill>
                  <a:srgbClr val="5B6776"/>
                </a:solidFill>
                <a:latin typeface="Arial"/>
              </a:rPr>
              <a:t>Captures the current state as a named, routable saved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00316" y="320040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0316" y="3200400"/>
            <a:ext cx="2084831" cy="82296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6620" y="3456432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332"/>
                </a:solidFill>
                <a:latin typeface="Arial"/>
              </a:rPr>
              <a:t>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6620" y="4041648"/>
            <a:ext cx="179222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>
                <a:solidFill>
                  <a:srgbClr val="5B6776"/>
                </a:solidFill>
                <a:latin typeface="Arial"/>
              </a:rPr>
              <a:t>Exports the dashboard (stubbed in the prototype).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3728" y="3200400"/>
            <a:ext cx="2084831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3728" y="3200400"/>
            <a:ext cx="2084831" cy="82296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3456432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2332"/>
                </a:solidFill>
                <a:latin typeface="Arial"/>
              </a:rPr>
              <a:t>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041648"/>
            <a:ext cx="179222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>
                <a:solidFill>
                  <a:srgbClr val="5B6776"/>
                </a:solidFill>
                <a:latin typeface="Arial"/>
              </a:rPr>
              <a:t>Opens the Share Dashboard modal.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776"/>
                </a:solidFill>
                <a:latin typeface="Arial"/>
              </a:rPr>
              <a:t>Comparison pages add one more button — </a:t>
            </a:r>
            <a:r>
              <a:rPr sz="1150" b="1">
                <a:solidFill>
                  <a:srgbClr val="1A2332"/>
                </a:solidFill>
                <a:latin typeface="Arial"/>
              </a:rPr>
              <a:t>Notify Users</a:t>
            </a:r>
            <a:r>
              <a:rPr sz="1150" b="0">
                <a:solidFill>
                  <a:srgbClr val="5B6776"/>
                </a:solidFill>
                <a:latin typeface="Arial"/>
              </a:rPr>
              <a:t> (the paper-plane icon). See slide 14.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FILTERS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The filter modal is a vanilla-JS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0" y="502920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NEW · CORE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7040880" cy="84124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587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332"/>
                </a:solidFill>
                <a:latin typeface="Consolas"/>
              </a:rPr>
              <a:t>angular.json  scripts[ ]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5B6776"/>
                </a:solidFill>
                <a:latin typeface="Arial"/>
              </a:rPr>
              <a:t>loads the engine globally, once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715768"/>
            <a:ext cx="0" cy="320040"/>
          </a:xfrm>
          <a:prstGeom prst="line">
            <a:avLst/>
          </a:prstGeom>
          <a:ln w="2032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035808"/>
            <a:ext cx="7040880" cy="969264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 w="1587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Consolas"/>
              </a:rPr>
              <a:t>filter-modal-engine.js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7CB7EC"/>
                </a:solidFill>
                <a:latin typeface="Arial"/>
              </a:rPr>
              <a:t>vanilla JS · owns ALL filter state, rendering &amp; saved sets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4005072"/>
            <a:ext cx="0" cy="320040"/>
          </a:xfrm>
          <a:prstGeom prst="line">
            <a:avLst/>
          </a:prstGeom>
          <a:ln w="2032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4325112"/>
            <a:ext cx="7040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332"/>
                </a:solidFill>
                <a:latin typeface="Consolas"/>
              </a:rPr>
              <a:t>Angular  filter-shell  component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5B6776"/>
                </a:solidFill>
                <a:latin typeface="Arial"/>
              </a:rPr>
              <a:t>renders the modal HTML · calls the window API · re-emits events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5239512"/>
            <a:ext cx="0" cy="301752"/>
          </a:xfrm>
          <a:prstGeom prst="line">
            <a:avLst/>
          </a:prstGeom>
          <a:ln w="2032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5541264"/>
            <a:ext cx="70408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A2332"/>
                </a:solidFill>
                <a:latin typeface="Arial"/>
              </a:rPr>
              <a:t>Parent page component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5B6776"/>
                </a:solidFill>
                <a:latin typeface="Arial"/>
              </a:rPr>
              <a:t>binds [(open)] + @Outputs; never touches the engine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74519"/>
            <a:ext cx="3593592" cy="4416552"/>
          </a:xfrm>
          <a:prstGeom prst="roundRect">
            <a:avLst>
              <a:gd name="adj" fmla="val 5000"/>
            </a:avLst>
          </a:prstGeom>
          <a:solidFill>
            <a:srgbClr val="FBF3E3"/>
          </a:solidFill>
          <a:ln w="15875">
            <a:solidFill>
              <a:srgbClr val="E8C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1214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spc="80">
                <a:solidFill>
                  <a:srgbClr val="C97A12"/>
                </a:solidFill>
                <a:latin typeface="Arial"/>
              </a:rPr>
              <a:t>⚠  DO NOT MIGRATE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542032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332"/>
                </a:solidFill>
                <a:latin typeface="Arial"/>
              </a:rPr>
              <a:t>This is not the design system </a:t>
            </a:r>
            <a:r>
              <a:rPr sz="1250" b="1">
                <a:solidFill>
                  <a:srgbClr val="1A2332"/>
                </a:solidFill>
                <a:latin typeface="Consolas"/>
              </a:rPr>
              <a:t>&lt;ds-filter&gt;</a:t>
            </a:r>
            <a:r>
              <a:rPr sz="1250" b="0">
                <a:solidFill>
                  <a:srgbClr val="1A2332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A2332"/>
                </a:solidFill>
                <a:latin typeface="Arial"/>
              </a:rPr>
              <a:t>The custom engine is intentional. &lt;ds-filter&gt; does not support: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•  tiered groups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•  per-field types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•  excluded buckets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•  saved filter sets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Porting to Angular is an optional v2 — not required for launch.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FILTERS ·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How the shell talks to the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A2332"/>
                </a:solidFill>
                <a:latin typeface="Arial"/>
              </a:rPr>
              <a:t>filter-shell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5B6776"/>
                </a:solidFill>
                <a:latin typeface="Arial"/>
              </a:rPr>
              <a:t>ngAfterViewInit → filterModalInit(context)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377440"/>
            <a:ext cx="731520" cy="0"/>
          </a:xfrm>
          <a:prstGeom prst="line">
            <a:avLst/>
          </a:prstGeom>
          <a:ln w="2032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9202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 w="1587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JS engine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050">
                <a:solidFill>
                  <a:srgbClr val="7CB7EC"/>
                </a:solidFill>
                <a:latin typeface="Arial"/>
              </a:rPr>
              <a:t>switches context, loads filter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0116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context</a:t>
            </a:r>
            <a:r>
              <a:rPr sz="1200" b="0">
                <a:solidFill>
                  <a:srgbClr val="5B6776"/>
                </a:solidFill>
                <a:latin typeface="Arial"/>
              </a:rPr>
              <a:t> keys the groups +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saved-sets storage. Tabbed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Arial"/>
              </a:rPr>
              <a:t>pages swap context reactively.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0908792" cy="18288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A2332"/>
                </a:solidFill>
                <a:latin typeface="Arial"/>
              </a:rPr>
              <a:t>The engine fires window events — the shell re-emits them as Angular @Outputs: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913631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6EBE"/>
                </a:solidFill>
                <a:latin typeface="Consolas"/>
              </a:rPr>
              <a:t>filterApplied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97679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776"/>
                </a:solidFill>
                <a:latin typeface="Consolas"/>
              </a:rPr>
              <a:t>{ count, hasDateFilter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" y="4681727"/>
            <a:ext cx="3172968" cy="16459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773168"/>
            <a:ext cx="3172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776"/>
                </a:solidFill>
                <a:latin typeface="Arial"/>
              </a:rPr>
              <a:t>→  @Output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2332"/>
                </a:solidFill>
                <a:latin typeface="Consolas"/>
              </a:rPr>
              <a:t>filterCountChange  ·  filterDateActiveChange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913631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6EBE"/>
                </a:solidFill>
                <a:latin typeface="Consolas"/>
              </a:rPr>
              <a:t>filterModalClose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297679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776"/>
                </a:solidFill>
                <a:latin typeface="Consolas"/>
              </a:rPr>
              <a:t>(dismissed, no apply)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4681727"/>
            <a:ext cx="3172968" cy="16459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4773168"/>
            <a:ext cx="3172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776"/>
                </a:solidFill>
                <a:latin typeface="Arial"/>
              </a:rPr>
              <a:t>→  @Output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2332"/>
                </a:solidFill>
                <a:latin typeface="Consolas"/>
              </a:rPr>
              <a:t>openChange → false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749039"/>
            <a:ext cx="350215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913631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6EBE"/>
                </a:solidFill>
                <a:latin typeface="Consolas"/>
              </a:rPr>
              <a:t>dateRangeSelected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297679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776"/>
                </a:solidFill>
                <a:latin typeface="Consolas"/>
              </a:rPr>
              <a:t>{ label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4681727"/>
            <a:ext cx="3172968" cy="16459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4773168"/>
            <a:ext cx="31729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B6776"/>
                </a:solidFill>
                <a:latin typeface="Arial"/>
              </a:rPr>
              <a:t>→  @Output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2332"/>
                </a:solidFill>
                <a:latin typeface="Consolas"/>
              </a:rPr>
              <a:t>parent updates date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776"/>
                </a:solidFill>
                <a:latin typeface="Arial"/>
              </a:rPr>
              <a:t>Saved views reach in via </a:t>
            </a:r>
            <a:r>
              <a:rPr sz="1150" b="1">
                <a:solidFill>
                  <a:srgbClr val="1A2332"/>
                </a:solidFill>
                <a:latin typeface="Consolas"/>
              </a:rPr>
              <a:t>@ViewChild</a:t>
            </a:r>
            <a:r>
              <a:rPr sz="1150" b="0">
                <a:solidFill>
                  <a:srgbClr val="5B6776"/>
                </a:solidFill>
                <a:latin typeface="Arial"/>
              </a:rPr>
              <a:t>: parent calls </a:t>
            </a:r>
            <a:r>
              <a:rPr sz="1150" b="1">
                <a:solidFill>
                  <a:srgbClr val="1A2332"/>
                </a:solidFill>
                <a:latin typeface="Consolas"/>
              </a:rPr>
              <a:t>getState() / setState() / applySilent()</a:t>
            </a:r>
            <a:r>
              <a:rPr sz="1150" b="0">
                <a:solidFill>
                  <a:srgbClr val="5B6776"/>
                </a:solidFill>
                <a:latin typeface="Arial"/>
              </a:rPr>
              <a:t>. Place the shell at the end of the template.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4764024" y="1892807"/>
            <a:ext cx="6656831" cy="4160520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FILTERS · THE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What the user actually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filter-modal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28800"/>
            <a:ext cx="6656831" cy="4160520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40080" y="1920240"/>
            <a:ext cx="36576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Groups  </a:t>
            </a:r>
            <a:r>
              <a:rPr sz="1260">
                <a:solidFill>
                  <a:srgbClr val="5B6776"/>
                </a:solidFill>
                <a:latin typeface="Arial"/>
              </a:rPr>
              <a:t>left nav — Date, Ticket, Customer… each with an icon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Tiers  </a:t>
            </a:r>
            <a:r>
              <a:rPr sz="1260">
                <a:solidFill>
                  <a:srgbClr val="5B6776"/>
                </a:solidFill>
                <a:latin typeface="Arial"/>
              </a:rPr>
              <a:t>sub-sections inside a group (Type, Status, Age…)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Field types  </a:t>
            </a:r>
            <a:r>
              <a:rPr sz="1260">
                <a:solidFill>
                  <a:srgbClr val="5B6776"/>
                </a:solidFill>
                <a:latin typeface="Arial"/>
              </a:rPr>
              <a:t>date / cost / numeric / time ranges + text-match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Selected panel  </a:t>
            </a:r>
            <a:r>
              <a:rPr sz="1260">
                <a:solidFill>
                  <a:srgbClr val="5B6776"/>
                </a:solidFill>
                <a:latin typeface="Arial"/>
              </a:rPr>
              <a:t>the navy column; Exclude flips a bucket to NOT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Save Filters  </a:t>
            </a:r>
            <a:r>
              <a:rPr sz="1260">
                <a:solidFill>
                  <a:srgbClr val="5B6776"/>
                </a:solidFill>
                <a:latin typeface="Arial"/>
              </a:rPr>
              <a:t>saved filter sets — see slide 11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060" b="1">
                <a:solidFill>
                  <a:srgbClr val="1C6EBE"/>
                </a:solidFill>
                <a:latin typeface="Arial"/>
              </a:rPr>
              <a:t>▪  </a:t>
            </a:r>
            <a:r>
              <a:rPr sz="1260" b="1">
                <a:solidFill>
                  <a:srgbClr val="1A2332"/>
                </a:solidFill>
                <a:latin typeface="Arial"/>
              </a:rPr>
              <a:t>Draft vs committed  </a:t>
            </a:r>
            <a:r>
              <a:rPr sz="1260">
                <a:solidFill>
                  <a:srgbClr val="5B6776"/>
                </a:solidFill>
                <a:latin typeface="Arial"/>
              </a:rPr>
              <a:t>edits are a draft; Apply commits, X / Esc discards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4572000" y="2584323"/>
            <a:ext cx="7040879" cy="2640329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FILTERS · APPLIED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The applied-filters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applied-bar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520315"/>
            <a:ext cx="7040879" cy="2640329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40080" y="1965960"/>
            <a:ext cx="3657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Hidden until active  </a:t>
            </a:r>
            <a:r>
              <a:rPr sz="1280">
                <a:solidFill>
                  <a:srgbClr val="5B6776"/>
                </a:solidFill>
                <a:latin typeface="Arial"/>
              </a:rPr>
              <a:t>no chrome when there are zero filters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Grouped cards  </a:t>
            </a:r>
            <a:r>
              <a:rPr sz="1280">
                <a:solidFill>
                  <a:srgbClr val="5B6776"/>
                </a:solidFill>
                <a:latin typeface="Arial"/>
              </a:rPr>
              <a:t>one card per tier/bucket, not one per option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Count badge  </a:t>
            </a:r>
            <a:r>
              <a:rPr sz="1280">
                <a:solidFill>
                  <a:srgbClr val="5B6776"/>
                </a:solidFill>
                <a:latin typeface="Arial"/>
              </a:rPr>
              <a:t>the toolbar filter button mirrors the active count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Collapsible  </a:t>
            </a:r>
            <a:r>
              <a:rPr sz="1280">
                <a:solidFill>
                  <a:srgbClr val="5B6776"/>
                </a:solidFill>
                <a:latin typeface="Arial"/>
              </a:rPr>
              <a:t>“Hide filters” collapses it to a single count chip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Excluded buckets  </a:t>
            </a:r>
            <a:r>
              <a:rPr sz="1280">
                <a:solidFill>
                  <a:srgbClr val="5B6776"/>
                </a:solidFill>
                <a:latin typeface="Arial"/>
              </a:rPr>
              <a:t>render as NOT and don't add to the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DON'T CONFUSE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Saved filter sets ≠ saved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03520" cy="64008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Saved filter 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97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inside the filter modal (“Save Filters”)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2841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3284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only the filter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93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9593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localStorage, per context, browser-bound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5902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Consolas"/>
              </a:rPr>
              <a:t>onflo-filter-sets-{context}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21223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Owned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221223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the filter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828800"/>
            <a:ext cx="530352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1828800"/>
            <a:ext cx="530352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197510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Saved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97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697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app-level (“Save View” in the toolbar)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32841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Stores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3284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filter state + tab, date label, 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9593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39593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localStorage now → backend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5902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45902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Consolas"/>
              </a:rPr>
              <a:t>onflo-saved-views  ·  routed by :id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5221223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5B6776"/>
                </a:solidFill>
                <a:latin typeface="Arial"/>
              </a:rPr>
              <a:t>Owned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1" y="5221223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1A2332"/>
                </a:solidFill>
                <a:latin typeface="Arial"/>
              </a:rPr>
              <a:t>SavedViewsService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776"/>
                </a:solidFill>
                <a:latin typeface="Arial"/>
              </a:rPr>
              <a:t>They share no storage. A saved view round-trips the filter portion through the engine's getState() / setState().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6986016" y="3904488"/>
            <a:ext cx="3950208" cy="2468880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SAVED VIEWS ·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Save → route →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048256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2332"/>
                </a:solidFill>
                <a:latin typeface="Arial"/>
              </a:rPr>
              <a:t>Apply filters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80">
                <a:solidFill>
                  <a:srgbClr val="5B6776"/>
                </a:solidFill>
                <a:latin typeface="Arial"/>
              </a:rPr>
              <a:t>engine commits the selection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2908" y="2807208"/>
            <a:ext cx="86868" cy="0"/>
          </a:xfrm>
          <a:prstGeom prst="line">
            <a:avLst/>
          </a:prstGeom>
          <a:ln w="1778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9776" y="2148840"/>
            <a:ext cx="2048256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2332"/>
                </a:solidFill>
                <a:latin typeface="Arial"/>
              </a:rPr>
              <a:t>Save View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80">
                <a:solidFill>
                  <a:srgbClr val="5B6776"/>
                </a:solidFill>
                <a:latin typeface="Arial"/>
              </a:rPr>
              <a:t>name it in the modal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32604" y="2807208"/>
            <a:ext cx="86868" cy="0"/>
          </a:xfrm>
          <a:prstGeom prst="line">
            <a:avLst/>
          </a:prstGeom>
          <a:ln w="1778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19472" y="2148840"/>
            <a:ext cx="2048256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2332"/>
                </a:solidFill>
                <a:latin typeface="Consolas"/>
              </a:rPr>
              <a:t>service.save()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80">
                <a:solidFill>
                  <a:srgbClr val="5B6776"/>
                </a:solidFill>
                <a:latin typeface="Arial"/>
              </a:rPr>
              <a:t>captures getState() + meta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72300" y="2807208"/>
            <a:ext cx="86868" cy="0"/>
          </a:xfrm>
          <a:prstGeom prst="line">
            <a:avLst/>
          </a:prstGeom>
          <a:ln w="1778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59168" y="2148840"/>
            <a:ext cx="2048256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A2332"/>
                </a:solidFill>
                <a:latin typeface="Consolas"/>
              </a:rPr>
              <a:t>Route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80">
                <a:solidFill>
                  <a:srgbClr val="5B6776"/>
                </a:solidFill>
                <a:latin typeface="Arial"/>
              </a:rPr>
              <a:t>/analytics/.../saved-views/:id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11996" y="2807208"/>
            <a:ext cx="86868" cy="0"/>
          </a:xfrm>
          <a:prstGeom prst="line">
            <a:avLst/>
          </a:prstGeom>
          <a:ln w="17780">
            <a:solidFill>
              <a:srgbClr val="1C6EB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98864" y="2148840"/>
            <a:ext cx="2048256" cy="132588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 w="1587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Restore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80">
                <a:solidFill>
                  <a:srgbClr val="7CB7EC"/>
                </a:solidFill>
                <a:latin typeface="Arial"/>
              </a:rPr>
              <a:t>setState() + applySilent()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A2332"/>
                </a:solidFill>
                <a:latin typeface="Arial"/>
              </a:rPr>
              <a:t>Restore happens without opening the modal.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C6EBE"/>
                </a:solidFill>
                <a:latin typeface="Consolas"/>
              </a:rPr>
              <a:t>applySilent()</a:t>
            </a:r>
            <a:r>
              <a:rPr sz="1250" b="0">
                <a:solidFill>
                  <a:srgbClr val="5B6776"/>
                </a:solidFill>
                <a:latin typeface="Arial"/>
              </a:rPr>
              <a:t> applies the state and still emits </a:t>
            </a:r>
            <a:r>
              <a:rPr sz="1250" b="1">
                <a:solidFill>
                  <a:srgbClr val="1A2332"/>
                </a:solidFill>
                <a:latin typeface="Consolas"/>
              </a:rPr>
              <a:t>filterApplied</a:t>
            </a:r>
            <a:r>
              <a:rPr sz="1250" b="0">
                <a:solidFill>
                  <a:srgbClr val="5B6776"/>
                </a:solidFill>
                <a:latin typeface="Arial"/>
              </a:rPr>
              <a:t>, so the count and date label update correctly.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A2332"/>
                </a:solidFill>
                <a:latin typeface="Arial"/>
              </a:rPr>
              <a:t>Edit</a:t>
            </a:r>
            <a:r>
              <a:rPr sz="1250" b="0">
                <a:solidFill>
                  <a:srgbClr val="5B6776"/>
                </a:solidFill>
                <a:latin typeface="Arial"/>
              </a:rPr>
              <a:t> updates in place (URL unchanged). </a:t>
            </a:r>
            <a:r>
              <a:rPr sz="1250" b="1">
                <a:solidFill>
                  <a:srgbClr val="1A2332"/>
                </a:solidFill>
                <a:latin typeface="Arial"/>
              </a:rPr>
              <a:t>Delete</a:t>
            </a:r>
            <a:r>
              <a:rPr sz="1250" b="0">
                <a:solidFill>
                  <a:srgbClr val="5B6776"/>
                </a:solidFill>
                <a:latin typeface="Arial"/>
              </a:rPr>
              <a:t> returns to the base route and resets.</a:t>
            </a:r>
          </a:p>
        </p:txBody>
      </p:sp>
      <p:pic>
        <p:nvPicPr>
          <p:cNvPr id="18" name="Picture 17" descr="06-save-view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3840480"/>
            <a:ext cx="3950208" cy="2468880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8507431" y="1938527"/>
            <a:ext cx="2370416" cy="4114800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SAVED VIEWS · PLUMBING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Storage, routing &amp; the subnav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6675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SavedViewsService  </a:t>
            </a:r>
            <a:r>
              <a:rPr sz="1280">
                <a:solidFill>
                  <a:srgbClr val="5B6776"/>
                </a:solidFill>
                <a:latin typeface="Arial"/>
              </a:rPr>
              <a:t>core/services/saved-views.service.ts — a readonly savedViews signal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Storage  </a:t>
            </a:r>
            <a:r>
              <a:rPr sz="1280">
                <a:solidFill>
                  <a:srgbClr val="5B6776"/>
                </a:solidFill>
                <a:latin typeface="Arial"/>
              </a:rPr>
              <a:t>localStorage key onflo-saved-views (per the migration plan, a backend API in production)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Per-page child route  </a:t>
            </a:r>
            <a:r>
              <a:rPr sz="1280">
                <a:solidFill>
                  <a:srgbClr val="5B6776"/>
                </a:solidFill>
                <a:latin typeface="Arial"/>
              </a:rPr>
              <a:t>saved-views/:id resolves to the same page component, which reads :id in ngOnInit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SavedViewLoaderComponent  </a:t>
            </a:r>
            <a:r>
              <a:rPr sz="1280">
                <a:solidFill>
                  <a:srgbClr val="5B6776"/>
                </a:solidFill>
                <a:latin typeface="Arial"/>
              </a:rPr>
              <a:t>the /analytics/saved-views/:id shortcut maps sourcePage → the right page route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080" b="1">
                <a:solidFill>
                  <a:srgbClr val="1C6EBE"/>
                </a:solidFill>
                <a:latin typeface="Arial"/>
              </a:rPr>
              <a:t>▪  </a:t>
            </a:r>
            <a:r>
              <a:rPr sz="1280" b="1">
                <a:solidFill>
                  <a:srgbClr val="1A2332"/>
                </a:solidFill>
                <a:latin typeface="Arial"/>
              </a:rPr>
              <a:t>Subnav  </a:t>
            </a:r>
            <a:r>
              <a:rPr sz="1280">
                <a:solidFill>
                  <a:srgbClr val="5B6776"/>
                </a:solidFill>
                <a:latin typeface="Arial"/>
              </a:rPr>
              <a:t>every saved view appears under “Saved Views” in the Analytics subnav →</a:t>
            </a:r>
          </a:p>
        </p:txBody>
      </p:sp>
      <p:pic>
        <p:nvPicPr>
          <p:cNvPr id="9" name="Picture 8" descr="07-subnav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711" y="1874519"/>
            <a:ext cx="2370416" cy="4114800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6432804" y="2304288"/>
            <a:ext cx="4974336" cy="3108960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799" y="2755487"/>
            <a:ext cx="5349240" cy="2206561"/>
          </a:xfrm>
          <a:prstGeom prst="roundRect">
            <a:avLst>
              <a:gd name="adj" fmla="val 2000"/>
            </a:avLst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COMPARISON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Same shell, plus cohort messaging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776"/>
                </a:solidFill>
                <a:latin typeface="Arial"/>
              </a:rPr>
              <a:t>Users, Categories and Topics each reuse the full dashboard pattern — and add one toolbar button: </a:t>
            </a:r>
            <a:r>
              <a:rPr sz="1300" b="1">
                <a:solidFill>
                  <a:srgbClr val="1A2332"/>
                </a:solidFill>
                <a:latin typeface="Arial"/>
              </a:rPr>
              <a:t>Notify Users</a:t>
            </a:r>
            <a:r>
              <a:rPr sz="1300" b="0">
                <a:solidFill>
                  <a:srgbClr val="5B6776"/>
                </a:solidFill>
                <a:latin typeface="Arial"/>
              </a:rPr>
              <a:t>.</a:t>
            </a:r>
          </a:p>
        </p:txBody>
      </p:sp>
      <p:pic>
        <p:nvPicPr>
          <p:cNvPr id="9" name="Picture 8" descr="08-comparison-user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691479"/>
            <a:ext cx="5349240" cy="2206561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pic>
        <p:nvPicPr>
          <p:cNvPr id="11" name="Picture 10" descr="09-notify-users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4" y="2240280"/>
            <a:ext cx="4974336" cy="3108960"/>
          </a:xfrm>
          <a:prstGeom prst="rect">
            <a:avLst/>
          </a:prstGeom>
          <a:ln w="12700">
            <a:solidFill>
              <a:srgbClr val="D7DDE4"/>
            </a:solidFill>
          </a:ln>
          <a:effectLst/>
        </p:spPr>
      </p:pic>
      <p:sp>
        <p:nvSpPr>
          <p:cNvPr id="12" name="Rounded Rectangle 11"/>
          <p:cNvSpPr/>
          <p:nvPr/>
        </p:nvSpPr>
        <p:spPr>
          <a:xfrm>
            <a:off x="640080" y="5468112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Note the extra ✈ toolbar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546811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Notify Users 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1C6EBE"/>
                </a:solidFill>
                <a:latin typeface="Arial"/>
              </a:rPr>
              <a:t>▪  </a:t>
            </a:r>
            <a:r>
              <a:rPr sz="1150">
                <a:solidFill>
                  <a:srgbClr val="1A2332"/>
                </a:solidFill>
                <a:latin typeface="Arial"/>
              </a:rPr>
              <a:t>Each page has its own filter-shell + context; the cohort modal sends a message to a selected user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spc="180">
                <a:solidFill>
                  <a:srgbClr val="1C6EBE"/>
                </a:solidFill>
                <a:latin typeface="Arial"/>
              </a:rPr>
              <a:t>BEFORE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332"/>
                </a:solidFill>
                <a:latin typeface="Arial"/>
              </a:rPr>
              <a:t>Backend dependencies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08792" cy="20116"/>
          </a:xfrm>
          <a:prstGeom prst="rect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908792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91440" cy="786384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1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2332"/>
                </a:solidFill>
                <a:latin typeface="Arial"/>
              </a:rPr>
              <a:t>Saved-views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84831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1C6EBE"/>
                </a:solidFill>
                <a:latin typeface="Arial"/>
              </a:rPr>
              <a:t>/api/analytics/saved-views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9339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5B6776"/>
                </a:solidFill>
                <a:latin typeface="Arial"/>
              </a:rPr>
              <a:t>CRUD per user; replaces the localStorage store.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9776"/>
            <a:ext cx="10908792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91440" cy="786384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986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2332"/>
                </a:solidFill>
                <a:latin typeface="Arial"/>
              </a:rPr>
              <a:t>Saved-filter-sets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99008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1C6EBE"/>
                </a:solidFill>
                <a:latin typeface="Arial"/>
              </a:rPr>
              <a:t>per user, per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9864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5B6776"/>
                </a:solidFill>
                <a:latin typeface="Arial"/>
              </a:rPr>
              <a:t>Migrate the engine's localStorage sets; copy existing on first login.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85032"/>
            <a:ext cx="10908792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85032"/>
            <a:ext cx="91440" cy="786384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03904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2332"/>
                </a:solidFill>
                <a:latin typeface="Arial"/>
              </a:rPr>
              <a:t>Stats-bar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89534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1C6EBE"/>
                </a:solidFill>
                <a:latin typeface="Arial"/>
              </a:rPr>
              <a:t>Service Overview +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8039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5B6776"/>
                </a:solidFill>
                <a:latin typeface="Arial"/>
              </a:rPr>
              <a:t>Populate the header KPI 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90288"/>
            <a:ext cx="10908792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90288"/>
            <a:ext cx="91440" cy="786384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2332"/>
                </a:solidFill>
                <a:latin typeface="Arial"/>
              </a:rPr>
              <a:t>Cohort-message endpoint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48006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1C6EBE"/>
                </a:solidFill>
                <a:latin typeface="Arial"/>
              </a:rPr>
              <a:t>Notify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091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5B6776"/>
                </a:solidFill>
                <a:latin typeface="Arial"/>
              </a:rPr>
              <a:t>Send the message to the selected cohort.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95544"/>
            <a:ext cx="10908792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95544"/>
            <a:ext cx="91440" cy="786384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14416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2332"/>
                </a:solidFill>
                <a:latin typeface="Arial"/>
              </a:rPr>
              <a:t>Filter 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570585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1C6EBE"/>
                </a:solidFill>
                <a:latin typeface="Arial"/>
              </a:rPr>
              <a:t>URL query param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61441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5B6776"/>
                </a:solidFill>
                <a:latin typeface="Arial"/>
              </a:rPr>
              <a:t>Applied filters survive refresh in-session; clear on logout.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6776"/>
                </a:solidFill>
                <a:latin typeface="Arial"/>
              </a:rPr>
              <a:t>Coordinate with backend early — these are blocking for the integration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776"/>
                </a:solidFill>
                <a:latin typeface="Arial"/>
              </a:rPr>
              <a:t>Onflo  ·  Dashboard team 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77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200">
                <a:solidFill>
                  <a:srgbClr val="7CB7EC"/>
                </a:solidFill>
                <a:latin typeface="Arial"/>
              </a:rPr>
              <a:t>GO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The authoritative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74519"/>
            <a:ext cx="1371600" cy="45720"/>
          </a:xfrm>
          <a:prstGeom prst="rect">
            <a:avLst/>
          </a:prstGeom>
          <a:solidFill>
            <a:srgbClr val="1C6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Shared specs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CB7EC"/>
                </a:solidFill>
                <a:latin typeface="Consolas"/>
              </a:rPr>
              <a:t>.claude/specs/shared/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77440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C6D2E0"/>
                </a:solidFill>
                <a:latin typeface="Consolas"/>
              </a:rPr>
              <a:t>specs-dashboard.md  ·  specs-filter-engine.md  ·  specs-saved-views.md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82112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1927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Per-page specs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CB7EC"/>
                </a:solidFill>
                <a:latin typeface="Consolas"/>
              </a:rPr>
              <a:t>.claude/specs/dashboard/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19272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C6D2E0"/>
                </a:solidFill>
                <a:latin typeface="Consolas"/>
              </a:rPr>
              <a:t>specs-service-overview.md  ·  comparison-{users,categories,topics}.md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23944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6110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Team handoff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CB7EC"/>
                </a:solidFill>
                <a:latin typeface="Consolas"/>
              </a:rPr>
              <a:t>docs/handoff/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61104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C6D2E0"/>
                </a:solidFill>
                <a:latin typeface="Consolas"/>
              </a:rPr>
              <a:t>dashboard-team.md — required reading order + backend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65776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20293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Live preview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7CB7EC"/>
                </a:solidFill>
                <a:latin typeface="Consolas"/>
              </a:rPr>
              <a:t>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202936"/>
            <a:ext cx="6858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>
                <a:solidFill>
                  <a:srgbClr val="C6D2E0"/>
                </a:solidFill>
                <a:latin typeface="Consolas"/>
              </a:rPr>
              <a:t>rbenedict-debug.github.io/Filter-Experience/analytics/service-overview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63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C9CB2"/>
                </a:solidFill>
                <a:latin typeface="Arial"/>
              </a:rPr>
              <a:t>Onflo Filter Experience  ·  Dashboard team handoff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